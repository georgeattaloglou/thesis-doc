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0" r:id="rId23"/>
    <p:sldId id="297" r:id="rId24"/>
    <p:sldId id="298" r:id="rId25"/>
    <p:sldId id="299" r:id="rId26"/>
    <p:sldId id="277" r:id="rId27"/>
    <p:sldId id="281" r:id="rId28"/>
    <p:sldId id="285" r:id="rId29"/>
    <p:sldId id="284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Accuracy</c:v>
                </c:pt>
                <c:pt idx="1">
                  <c:v>Precision(Off)</c:v>
                </c:pt>
                <c:pt idx="2">
                  <c:v>Recall(Off)</c:v>
                </c:pt>
                <c:pt idx="3">
                  <c:v>F1(0ff)</c:v>
                </c:pt>
                <c:pt idx="4">
                  <c:v>Precision(Not)</c:v>
                </c:pt>
                <c:pt idx="5">
                  <c:v>Recall(Not)</c:v>
                </c:pt>
                <c:pt idx="6">
                  <c:v>F1(Not)</c:v>
                </c:pt>
                <c:pt idx="7">
                  <c:v>Macro F1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95</c:v>
                </c:pt>
                <c:pt idx="1">
                  <c:v>92</c:v>
                </c:pt>
                <c:pt idx="2">
                  <c:v>74</c:v>
                </c:pt>
                <c:pt idx="3">
                  <c:v>82</c:v>
                </c:pt>
                <c:pt idx="4">
                  <c:v>95</c:v>
                </c:pt>
                <c:pt idx="5">
                  <c:v>99</c:v>
                </c:pt>
                <c:pt idx="6">
                  <c:v>97</c:v>
                </c:pt>
                <c:pt idx="7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52-4FAE-8F56-8F4442BC9D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Intermediate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Accuracy</c:v>
                </c:pt>
                <c:pt idx="1">
                  <c:v>Precision(Off)</c:v>
                </c:pt>
                <c:pt idx="2">
                  <c:v>Recall(Off)</c:v>
                </c:pt>
                <c:pt idx="3">
                  <c:v>F1(0ff)</c:v>
                </c:pt>
                <c:pt idx="4">
                  <c:v>Precision(Not)</c:v>
                </c:pt>
                <c:pt idx="5">
                  <c:v>Recall(Not)</c:v>
                </c:pt>
                <c:pt idx="6">
                  <c:v>F1(Not)</c:v>
                </c:pt>
                <c:pt idx="7">
                  <c:v>Macro F1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92</c:v>
                </c:pt>
                <c:pt idx="1">
                  <c:v>72</c:v>
                </c:pt>
                <c:pt idx="2">
                  <c:v>77</c:v>
                </c:pt>
                <c:pt idx="3">
                  <c:v>74</c:v>
                </c:pt>
                <c:pt idx="4">
                  <c:v>96</c:v>
                </c:pt>
                <c:pt idx="5">
                  <c:v>94</c:v>
                </c:pt>
                <c:pt idx="6">
                  <c:v>95</c:v>
                </c:pt>
                <c:pt idx="7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52-4FAE-8F56-8F4442BC9DE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Advanced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Accuracy</c:v>
                </c:pt>
                <c:pt idx="1">
                  <c:v>Precision(Off)</c:v>
                </c:pt>
                <c:pt idx="2">
                  <c:v>Recall(Off)</c:v>
                </c:pt>
                <c:pt idx="3">
                  <c:v>F1(0ff)</c:v>
                </c:pt>
                <c:pt idx="4">
                  <c:v>Precision(Not)</c:v>
                </c:pt>
                <c:pt idx="5">
                  <c:v>Recall(Not)</c:v>
                </c:pt>
                <c:pt idx="6">
                  <c:v>F1(Not)</c:v>
                </c:pt>
                <c:pt idx="7">
                  <c:v>Macro F1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90</c:v>
                </c:pt>
                <c:pt idx="1">
                  <c:v>62</c:v>
                </c:pt>
                <c:pt idx="2">
                  <c:v>93</c:v>
                </c:pt>
                <c:pt idx="3">
                  <c:v>74</c:v>
                </c:pt>
                <c:pt idx="4">
                  <c:v>99</c:v>
                </c:pt>
                <c:pt idx="5">
                  <c:v>89</c:v>
                </c:pt>
                <c:pt idx="6">
                  <c:v>94</c:v>
                </c:pt>
                <c:pt idx="7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52-4FAE-8F56-8F4442BC9D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32405904"/>
        <c:axId val="732408304"/>
      </c:barChart>
      <c:catAx>
        <c:axId val="732405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2408304"/>
        <c:crosses val="autoZero"/>
        <c:auto val="1"/>
        <c:lblAlgn val="ctr"/>
        <c:lblOffset val="100"/>
        <c:noMultiLvlLbl val="0"/>
      </c:catAx>
      <c:valAx>
        <c:axId val="732408304"/>
        <c:scaling>
          <c:orientation val="minMax"/>
          <c:max val="100"/>
          <c:min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2405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Performance of each model before and after pre-processing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Intermediate</c:v>
                </c:pt>
                <c:pt idx="2">
                  <c:v>Advanced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</c:v>
                </c:pt>
                <c:pt idx="1">
                  <c:v>57</c:v>
                </c:pt>
                <c:pt idx="2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63-4A12-B1AD-CBE06067C7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Intermediate</c:v>
                </c:pt>
                <c:pt idx="2">
                  <c:v>Advanced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</c:v>
                </c:pt>
                <c:pt idx="1">
                  <c:v>85</c:v>
                </c:pt>
                <c:pt idx="2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63-4A12-B1AD-CBE06067C7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7464303"/>
        <c:axId val="1307447983"/>
      </c:barChart>
      <c:catAx>
        <c:axId val="1307464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7447983"/>
        <c:crosses val="autoZero"/>
        <c:auto val="1"/>
        <c:lblAlgn val="ctr"/>
        <c:lblOffset val="100"/>
        <c:noMultiLvlLbl val="0"/>
      </c:catAx>
      <c:valAx>
        <c:axId val="1307447983"/>
        <c:scaling>
          <c:orientation val="minMax"/>
          <c:min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7464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Macro F1 performance per model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Macro F1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7B-42D6-9366-6AB8480694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Intermediate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Macro F1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7B-42D6-9366-6AB84806949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Advanced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Macro F1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7B-42D6-9366-6AB8480694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83518512"/>
        <c:axId val="1483518032"/>
      </c:barChart>
      <c:catAx>
        <c:axId val="1483518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518032"/>
        <c:crosses val="autoZero"/>
        <c:auto val="1"/>
        <c:lblAlgn val="ctr"/>
        <c:lblOffset val="100"/>
        <c:noMultiLvlLbl val="0"/>
      </c:catAx>
      <c:valAx>
        <c:axId val="1483518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518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Performance</a:t>
            </a:r>
            <a:r>
              <a:rPr lang="en-US" baseline="0" dirty="0"/>
              <a:t> per model for offensive tweet classification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74</c:v>
                </c:pt>
                <c:pt idx="2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7B-42D6-9366-6AB8480694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Intermediate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72</c:v>
                </c:pt>
                <c:pt idx="1">
                  <c:v>77</c:v>
                </c:pt>
                <c:pt idx="2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7B-42D6-9366-6AB84806949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Advanced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62</c:v>
                </c:pt>
                <c:pt idx="1">
                  <c:v>93</c:v>
                </c:pt>
                <c:pt idx="2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7B-42D6-9366-6AB8480694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83518512"/>
        <c:axId val="1483518032"/>
      </c:barChart>
      <c:catAx>
        <c:axId val="1483518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518032"/>
        <c:crosses val="autoZero"/>
        <c:auto val="1"/>
        <c:lblAlgn val="ctr"/>
        <c:lblOffset val="100"/>
        <c:noMultiLvlLbl val="0"/>
      </c:catAx>
      <c:valAx>
        <c:axId val="1483518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518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Performance</a:t>
            </a:r>
            <a:r>
              <a:rPr lang="en-US" baseline="0" dirty="0"/>
              <a:t> per model for not offensive tweet classification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99</c:v>
                </c:pt>
                <c:pt idx="2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7B-42D6-9366-6AB8480694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Intermediate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</c:v>
                </c:pt>
                <c:pt idx="1">
                  <c:v>94</c:v>
                </c:pt>
                <c:pt idx="2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7B-42D6-9366-6AB84806949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Advanced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99</c:v>
                </c:pt>
                <c:pt idx="1">
                  <c:v>89</c:v>
                </c:pt>
                <c:pt idx="2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7B-42D6-9366-6AB8480694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83518512"/>
        <c:axId val="1483518032"/>
      </c:barChart>
      <c:catAx>
        <c:axId val="1483518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518032"/>
        <c:crosses val="autoZero"/>
        <c:auto val="1"/>
        <c:lblAlgn val="ctr"/>
        <c:lblOffset val="100"/>
        <c:noMultiLvlLbl val="0"/>
      </c:catAx>
      <c:valAx>
        <c:axId val="1483518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518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OGTD</a:t>
            </a:r>
            <a:r>
              <a:rPr lang="en-US" baseline="0" dirty="0"/>
              <a:t> data size per class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offensive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Tweets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3378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FB-4CEA-AAC4-2E7709A0B9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Offensive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Tweets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FB-4CEA-AAC4-2E7709A0B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61278528"/>
        <c:axId val="1061274688"/>
      </c:barChart>
      <c:catAx>
        <c:axId val="1061278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1274688"/>
        <c:crosses val="autoZero"/>
        <c:auto val="1"/>
        <c:lblAlgn val="ctr"/>
        <c:lblOffset val="100"/>
        <c:noMultiLvlLbl val="0"/>
      </c:catAx>
      <c:valAx>
        <c:axId val="1061274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1278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8166-AEDC-D009-2EA9-F5114A7DC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829CB-20DD-FCA3-5194-61B46FA46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78F7C-7E31-2D30-BD3B-FC64BC96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D4510-12A4-45D4-A475-E15EB597DE64}" type="datetimeFigureOut">
              <a:rPr lang="en-US" smtClean="0"/>
              <a:t>13-Feb-26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D4BCD-68D4-1220-A14C-7C518022E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21099-AC15-01F8-E0E6-F72D2D99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04E9-A287-4E19-9E69-D15339766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7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72D2-F361-09E9-A73A-D2F03FB08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620EC-E060-E060-72AA-A70089DD6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5080-A2D2-F428-A96F-6FC1F5061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D4510-12A4-45D4-A475-E15EB597DE64}" type="datetimeFigureOut">
              <a:rPr lang="en-US" smtClean="0"/>
              <a:t>13-Feb-26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C3C0-C391-F9F1-D4C9-841D21A29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41758-5217-B2CD-A369-DB2349EB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04E9-A287-4E19-9E69-D15339766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5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F20E-EA64-F635-BDC9-9D7309A70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619F9-89E4-7EDF-2E66-7B594896B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D6726-D475-BC41-2F07-474F0289A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D4510-12A4-45D4-A475-E15EB597DE64}" type="datetimeFigureOut">
              <a:rPr lang="en-US" smtClean="0"/>
              <a:t>13-Feb-26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9A83E-C4F0-37FD-40DD-4C0227C17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EF202-BCA5-CC13-20EE-EE65A105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04E9-A287-4E19-9E69-D15339766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97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9C2B0-F8F2-1319-9FEB-8BB55CBB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0EE06-249A-D38E-0F40-4EF213EE0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E38C8-124B-F6D3-62B7-701FE9769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B0DAA-5932-65B8-FED0-640E1539B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D4510-12A4-45D4-A475-E15EB597DE64}" type="datetimeFigureOut">
              <a:rPr lang="en-US" smtClean="0"/>
              <a:t>13-Feb-26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36BC3-2057-584E-1837-CD857588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96536-025A-A3D1-89C5-D69A2D23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04E9-A287-4E19-9E69-D15339766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45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2ACC1-9459-0F38-D81A-CA42FE85B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34057-2E1D-1D85-9F00-529777F2F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DA496-A079-3A56-D838-12176B8DB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E954DF-6EB5-AFF6-7F85-71F7CF849D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4D59A6-B9FF-FD2B-ED91-1F691D17EB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8C77E-6583-6F00-733A-66AA95081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D4510-12A4-45D4-A475-E15EB597DE64}" type="datetimeFigureOut">
              <a:rPr lang="en-US" smtClean="0"/>
              <a:t>13-Feb-26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B92964-1A45-29A6-6961-7293323D8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417250-5C31-D26B-8B4F-D4D887E7F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04E9-A287-4E19-9E69-D15339766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3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7B5A9-BC47-9BAD-53AC-5BF1FFA96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47E8F-16A1-6650-A606-A708308F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D4510-12A4-45D4-A475-E15EB597DE64}" type="datetimeFigureOut">
              <a:rPr lang="en-US" smtClean="0"/>
              <a:t>13-Feb-26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CC159C-D4C2-1B57-883D-9B19B881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D9A68-3EDC-5EF9-E084-EE40FA2CC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04E9-A287-4E19-9E69-D15339766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73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B3090-E9E5-5796-6A96-4FD8A97B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D4510-12A4-45D4-A475-E15EB597DE64}" type="datetimeFigureOut">
              <a:rPr lang="en-US" smtClean="0"/>
              <a:t>13-Feb-26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7C1BBD-A004-C787-02ED-259D9F2A8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5B9D7-EF6A-A650-D421-D244DFDAD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04E9-A287-4E19-9E69-D15339766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903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74023-F940-3513-0E96-A0F447695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B6D32-AFC1-A0A3-21DF-963CBB29A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BB0B2-D4E0-D464-09B0-F5BF8E77A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0BEC0-A871-1065-4C05-19C924E2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D4510-12A4-45D4-A475-E15EB597DE64}" type="datetimeFigureOut">
              <a:rPr lang="en-US" smtClean="0"/>
              <a:t>13-Feb-26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1E0B4-8E58-4CFA-1C90-BF5201B3D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62909-2EF0-300A-460A-59907EF0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04E9-A287-4E19-9E69-D15339766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38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4A835-D7D3-0DF7-B8EB-C16D920AA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6EDC44-6F26-618B-DA32-67B36B682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167-5523-5064-7052-EDA85CD54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1E900-F64F-761B-958E-84BA22B22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D4510-12A4-45D4-A475-E15EB597DE64}" type="datetimeFigureOut">
              <a:rPr lang="en-US" smtClean="0"/>
              <a:t>13-Feb-26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1F9AC-4F25-2B7A-A882-F698377CA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1D7E5-1A4B-DCC7-D39C-6B458261A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04E9-A287-4E19-9E69-D15339766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54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12A03-9F36-30D0-9110-519B08CEE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10BFB-93C1-9E12-2407-4375915F0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1B73-6F2F-7F35-15A6-3109F5F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D4510-12A4-45D4-A475-E15EB597DE64}" type="datetimeFigureOut">
              <a:rPr lang="en-US" smtClean="0"/>
              <a:t>13-Feb-26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417D6-E7E3-F914-D320-9DB6D14F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C2DA8-2400-6BA4-50C4-E083E07B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04E9-A287-4E19-9E69-D15339766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15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BA3F32-8702-0254-129A-A4D2FEAAF6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1D0B6-12DF-E283-B22D-79DE945A4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70303-18DE-18B9-D312-0E9CB4795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D4510-12A4-45D4-A475-E15EB597DE64}" type="datetimeFigureOut">
              <a:rPr lang="en-US" smtClean="0"/>
              <a:t>13-Feb-26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89638-50BC-4F1B-6D02-B9FE074C3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95249-81F0-B9C9-2317-A151DC2A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04E9-A287-4E19-9E69-D15339766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06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BAB480-7D48-2356-ADA2-E2BD6A229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2AE24-96BC-022D-CE19-341D14375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29DC2-DF88-966E-3197-CD25EA8617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0D4510-12A4-45D4-A475-E15EB597DE64}" type="datetimeFigureOut">
              <a:rPr lang="en-US" smtClean="0"/>
              <a:t>13-Feb-26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8299-168A-B7D2-F6CE-4A47A25C8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C3D90-CF16-6A04-18A6-6AE07FE23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4A04E9-A287-4E19-9E69-D15339766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67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E43F-496B-2892-939E-122C15834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89901"/>
          </a:xfrm>
        </p:spPr>
        <p:txBody>
          <a:bodyPr>
            <a:normAutofit fontScale="90000"/>
          </a:bodyPr>
          <a:lstStyle/>
          <a:p>
            <a:b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>
                <a:cs typeface="Times New Roman" panose="02020603050405020304" pitchFamily="18" charset="0"/>
              </a:rPr>
              <a:t>BSc </a:t>
            </a:r>
            <a:r>
              <a:rPr lang="en-US" sz="4000" dirty="0">
                <a:cs typeface="Times New Roman" panose="02020603050405020304" pitchFamily="18" charset="0"/>
              </a:rPr>
              <a:t>thesis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cs typeface="Times New Roman" panose="02020603050405020304" pitchFamily="18" charset="0"/>
              </a:rPr>
              <a:t>Toxicity Analysis in Greek Text using Machine Learning and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39CE7-BA98-8096-4274-DA5DE4D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52928"/>
            <a:ext cx="9144000" cy="2404872"/>
          </a:xfrm>
        </p:spPr>
        <p:txBody>
          <a:bodyPr/>
          <a:lstStyle/>
          <a:p>
            <a:r>
              <a:rPr lang="en-US" dirty="0"/>
              <a:t>By George </a:t>
            </a:r>
            <a:r>
              <a:rPr lang="en-US" dirty="0" err="1"/>
              <a:t>Attaloglou</a:t>
            </a:r>
            <a:endParaRPr lang="en-US" dirty="0"/>
          </a:p>
          <a:p>
            <a:endParaRPr lang="en-US" dirty="0"/>
          </a:p>
          <a:p>
            <a:r>
              <a:rPr lang="en-US" dirty="0"/>
              <a:t>Supervisor: Karvelis Petros</a:t>
            </a:r>
          </a:p>
        </p:txBody>
      </p:sp>
    </p:spTree>
    <p:extLst>
      <p:ext uri="{BB962C8B-B14F-4D97-AF65-F5344CB8AC3E}">
        <p14:creationId xmlns:p14="http://schemas.microsoft.com/office/powerpoint/2010/main" val="68416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A4E8-A100-C3F6-E8BF-184A802FC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DF8BC-964A-E09D-9479-9775439AA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>
                <a:cs typeface="Times New Roman" panose="02020603050405020304" pitchFamily="18" charset="0"/>
              </a:rPr>
              <a:t>In my thesis I compared three models in the task of toxicity analysis in Greek, each with increasing complexity:</a:t>
            </a:r>
          </a:p>
          <a:p>
            <a:r>
              <a:rPr lang="en-US" dirty="0">
                <a:cs typeface="Times New Roman" panose="02020603050405020304" pitchFamily="18" charset="0"/>
              </a:rPr>
              <a:t>The baseline model – Uses standard, tried and tested ML methods.</a:t>
            </a:r>
          </a:p>
          <a:p>
            <a:r>
              <a:rPr lang="en-US" dirty="0">
                <a:cs typeface="Times New Roman" panose="02020603050405020304" pitchFamily="18" charset="0"/>
              </a:rPr>
              <a:t>The intermediate model – Uses basic Deep Learning methods.</a:t>
            </a:r>
          </a:p>
          <a:p>
            <a:r>
              <a:rPr lang="en-US" dirty="0">
                <a:cs typeface="Times New Roman" panose="02020603050405020304" pitchFamily="18" charset="0"/>
              </a:rPr>
              <a:t>The advanced model – Uses a state-of-the-art Deep Learning model.</a:t>
            </a:r>
          </a:p>
        </p:txBody>
      </p:sp>
    </p:spTree>
    <p:extLst>
      <p:ext uri="{BB962C8B-B14F-4D97-AF65-F5344CB8AC3E}">
        <p14:creationId xmlns:p14="http://schemas.microsoft.com/office/powerpoint/2010/main" val="416899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E9280-2EFC-EAAD-B90B-757337875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What is online toxicity?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5BC2A-DC20-55AB-BA01-DDD37249D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Toxicity refers to rude, aggressive, and degrading behaviors between users.</a:t>
            </a:r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pPr lvl="1"/>
            <a:r>
              <a:rPr lang="el-GR" sz="2800" dirty="0"/>
              <a:t>“ #masterchefgr_xeftiles </a:t>
            </a:r>
            <a:r>
              <a:rPr lang="el-GR" sz="2800" dirty="0" err="1"/>
              <a:t>αμε</a:t>
            </a:r>
            <a:r>
              <a:rPr lang="el-GR" sz="2800" dirty="0"/>
              <a:t> στον </a:t>
            </a:r>
            <a:r>
              <a:rPr lang="el-GR" sz="2800" dirty="0" err="1"/>
              <a:t>αγυριστο</a:t>
            </a:r>
            <a:r>
              <a:rPr lang="el-GR" sz="2800" dirty="0"/>
              <a:t> με τα </a:t>
            </a:r>
            <a:r>
              <a:rPr lang="el-GR" sz="2800" dirty="0" err="1"/>
              <a:t>μαγειρεματα</a:t>
            </a:r>
            <a:r>
              <a:rPr lang="el-GR" sz="2800" dirty="0"/>
              <a:t> σας....η </a:t>
            </a:r>
            <a:r>
              <a:rPr lang="el-GR" sz="2800" dirty="0" err="1"/>
              <a:t>ντροπη</a:t>
            </a:r>
            <a:r>
              <a:rPr lang="el-GR" sz="2800" dirty="0"/>
              <a:t> της </a:t>
            </a:r>
            <a:r>
              <a:rPr lang="el-GR" sz="2800" dirty="0" err="1"/>
              <a:t>τηλεορασης</a:t>
            </a:r>
            <a:r>
              <a:rPr lang="el-GR" sz="2800" dirty="0"/>
              <a:t> </a:t>
            </a:r>
            <a:r>
              <a:rPr lang="el-GR" sz="2800" dirty="0" err="1"/>
              <a:t>φετος</a:t>
            </a:r>
            <a:r>
              <a:rPr lang="el-GR" sz="2800" dirty="0"/>
              <a:t>... </a:t>
            </a:r>
            <a:r>
              <a:rPr lang="el-GR" sz="2800" dirty="0" err="1"/>
              <a:t>ξεφτιλα</a:t>
            </a:r>
            <a:r>
              <a:rPr lang="el-GR" sz="2800" dirty="0"/>
              <a:t> ”</a:t>
            </a:r>
            <a:endParaRPr lang="en-US" sz="2800" dirty="0"/>
          </a:p>
          <a:p>
            <a:pPr lvl="1"/>
            <a:r>
              <a:rPr lang="el-GR" sz="2800" dirty="0"/>
              <a:t>“σα </a:t>
            </a:r>
            <a:r>
              <a:rPr lang="el-GR" sz="2800" dirty="0" err="1"/>
              <a:t>μοσχαρι</a:t>
            </a:r>
            <a:r>
              <a:rPr lang="el-GR" sz="2800" dirty="0"/>
              <a:t> </a:t>
            </a:r>
            <a:r>
              <a:rPr lang="el-GR" sz="2800" dirty="0" err="1"/>
              <a:t>εχει</a:t>
            </a:r>
            <a:r>
              <a:rPr lang="el-GR" sz="2800" dirty="0"/>
              <a:t> </a:t>
            </a:r>
            <a:r>
              <a:rPr lang="el-GR" sz="2800" dirty="0" err="1"/>
              <a:t>γινει</a:t>
            </a:r>
            <a:r>
              <a:rPr lang="el-GR" sz="2800" dirty="0"/>
              <a:t> τι </a:t>
            </a:r>
            <a:r>
              <a:rPr lang="el-GR" sz="2800" dirty="0" err="1"/>
              <a:t>διαολο</a:t>
            </a:r>
            <a:r>
              <a:rPr lang="el-GR" sz="2800" dirty="0"/>
              <a:t> </a:t>
            </a:r>
            <a:r>
              <a:rPr lang="el-GR" sz="2800" dirty="0" err="1"/>
              <a:t>τρωνε</a:t>
            </a:r>
            <a:r>
              <a:rPr lang="el-GR" sz="2800" dirty="0"/>
              <a:t> στο </a:t>
            </a:r>
            <a:r>
              <a:rPr lang="el-GR" sz="2800" dirty="0" err="1"/>
              <a:t>μαξιμου</a:t>
            </a:r>
            <a:r>
              <a:rPr lang="el-GR" sz="2800" dirty="0"/>
              <a:t>;”</a:t>
            </a:r>
            <a:endParaRPr lang="en-US" sz="2800" dirty="0"/>
          </a:p>
          <a:p>
            <a:pPr lvl="1"/>
            <a:r>
              <a:rPr lang="el-GR" sz="2800" dirty="0"/>
              <a:t>“</a:t>
            </a:r>
            <a:r>
              <a:rPr lang="el-GR" sz="2800" dirty="0" err="1"/>
              <a:t>ασημινα</a:t>
            </a:r>
            <a:r>
              <a:rPr lang="el-GR" sz="2800" dirty="0"/>
              <a:t>.... δε μου πας </a:t>
            </a:r>
            <a:r>
              <a:rPr lang="el-GR" sz="2800" dirty="0" err="1"/>
              <a:t>κατα</a:t>
            </a:r>
            <a:r>
              <a:rPr lang="el-GR" sz="2800" dirty="0"/>
              <a:t> το </a:t>
            </a:r>
            <a:r>
              <a:rPr lang="el-GR" sz="2800" dirty="0" err="1"/>
              <a:t>γεροδιαολο</a:t>
            </a:r>
            <a:r>
              <a:rPr lang="el-GR" sz="2800" dirty="0"/>
              <a:t>; </a:t>
            </a:r>
            <a:r>
              <a:rPr lang="el-GR" sz="2800" dirty="0" err="1"/>
              <a:t>αχρηστη</a:t>
            </a:r>
            <a:r>
              <a:rPr lang="el-GR" sz="2800" dirty="0"/>
              <a:t> #gntmgr”</a:t>
            </a:r>
            <a:endParaRPr lang="en-US" sz="28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4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FF912-1FBA-3746-36A4-5207FC63E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dirty="0"/>
              <a:t>Why is toxicity analysis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60E8C-2029-B05C-5A89-CE37AF686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2847"/>
            <a:ext cx="10515600" cy="3964115"/>
          </a:xfrm>
        </p:spPr>
        <p:txBody>
          <a:bodyPr/>
          <a:lstStyle/>
          <a:p>
            <a:r>
              <a:rPr lang="en-US" dirty="0"/>
              <a:t>According to a study done in 2025 by Dvora </a:t>
            </a:r>
            <a:r>
              <a:rPr lang="en-US" dirty="0" err="1"/>
              <a:t>Schmulevitz</a:t>
            </a:r>
            <a:r>
              <a:rPr lang="en-US" dirty="0"/>
              <a:t>, online toxicity is directly correlated with increased probability of developing PTSD.</a:t>
            </a:r>
          </a:p>
          <a:p>
            <a:r>
              <a:rPr lang="en-US" dirty="0"/>
              <a:t>People of all ages are exposed to online toxicity daily on social media, video games or forums.</a:t>
            </a:r>
          </a:p>
          <a:p>
            <a:r>
              <a:rPr lang="en-US" dirty="0"/>
              <a:t>Having automated systems to identify and prevent toxicity is crucial for a healthier online ecosystem.</a:t>
            </a:r>
          </a:p>
        </p:txBody>
      </p:sp>
    </p:spTree>
    <p:extLst>
      <p:ext uri="{BB962C8B-B14F-4D97-AF65-F5344CB8AC3E}">
        <p14:creationId xmlns:p14="http://schemas.microsoft.com/office/powerpoint/2010/main" val="2500259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1362-46A6-92FF-6237-D5392DF5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dirty="0"/>
              <a:t>Challenges with toxicity analysis in Greek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3DE07-1B58-878C-5092-6791CEF3B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0009"/>
            <a:ext cx="10515600" cy="3826954"/>
          </a:xfrm>
        </p:spPr>
        <p:txBody>
          <a:bodyPr/>
          <a:lstStyle/>
          <a:p>
            <a:r>
              <a:rPr lang="en-US" dirty="0"/>
              <a:t>Greek is considered a low resource language. Finding data for the Greek language is difficult, especially when looking for data on written toxicity.</a:t>
            </a:r>
          </a:p>
          <a:p>
            <a:r>
              <a:rPr lang="en-US" dirty="0"/>
              <a:t>Greek has a lot of variety in its vocabulary. Local dialects add upon every aspect of the language including profanity, making it easy to miss obscure curses and swear words.</a:t>
            </a:r>
          </a:p>
        </p:txBody>
      </p:sp>
    </p:spTree>
    <p:extLst>
      <p:ext uri="{BB962C8B-B14F-4D97-AF65-F5344CB8AC3E}">
        <p14:creationId xmlns:p14="http://schemas.microsoft.com/office/powerpoint/2010/main" val="2240906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652B-4FC0-F1E3-B690-12BCEE13C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25581-6F32-30A0-C432-03E2545C5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dataset that was used to train and test the models in this thesis was the </a:t>
            </a:r>
            <a:r>
              <a:rPr lang="en-US" b="1" dirty="0"/>
              <a:t>Offensive Greek Tweet Dataset (OGTD)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Additionally, for the intermediate model we used the </a:t>
            </a:r>
            <a:r>
              <a:rPr lang="en-US" b="1" dirty="0"/>
              <a:t>Greek </a:t>
            </a:r>
            <a:r>
              <a:rPr lang="en-US" b="1" dirty="0" err="1"/>
              <a:t>FastText</a:t>
            </a:r>
            <a:r>
              <a:rPr lang="en-US" b="1" dirty="0"/>
              <a:t> word embeddings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0692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36E66-A577-3EE7-B0F9-73B5CAFEC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	</a:t>
            </a:r>
            <a:r>
              <a:rPr lang="en-US" sz="6000" dirty="0"/>
              <a:t>The Offensive Greek Tweet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3A0C-33B0-D2F7-5C8D-B50B06364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3703"/>
            <a:ext cx="10515600" cy="3973259"/>
          </a:xfrm>
        </p:spPr>
        <p:txBody>
          <a:bodyPr/>
          <a:lstStyle/>
          <a:p>
            <a:r>
              <a:rPr lang="en-US" dirty="0"/>
              <a:t>The dataset was created for the “</a:t>
            </a:r>
            <a:r>
              <a:rPr lang="en-US" b="1" dirty="0"/>
              <a:t>Offensive Language Identification in Greek</a:t>
            </a:r>
            <a:r>
              <a:rPr lang="en-US" dirty="0"/>
              <a:t>” paper which is of similar nature to this thesis.</a:t>
            </a:r>
          </a:p>
          <a:p>
            <a:r>
              <a:rPr lang="en-US" dirty="0"/>
              <a:t>The dataset was created by using the twitter API to get tweets and then labeling them by hand.</a:t>
            </a:r>
          </a:p>
          <a:p>
            <a:r>
              <a:rPr lang="en-US" dirty="0"/>
              <a:t>In total </a:t>
            </a:r>
            <a:r>
              <a:rPr lang="en-US" b="1" dirty="0"/>
              <a:t>5k tweets </a:t>
            </a:r>
            <a:r>
              <a:rPr lang="en-US" dirty="0"/>
              <a:t>were selected from the 49k total tweets.</a:t>
            </a:r>
          </a:p>
        </p:txBody>
      </p:sp>
    </p:spTree>
    <p:extLst>
      <p:ext uri="{BB962C8B-B14F-4D97-AF65-F5344CB8AC3E}">
        <p14:creationId xmlns:p14="http://schemas.microsoft.com/office/powerpoint/2010/main" val="1425593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023E0-A2A3-0997-F061-321B41ED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Greek </a:t>
            </a:r>
            <a:r>
              <a:rPr lang="en-US" sz="6000" dirty="0" err="1"/>
              <a:t>FastText</a:t>
            </a:r>
            <a:r>
              <a:rPr lang="en-US" sz="6000" dirty="0"/>
              <a:t> encodings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0A375-7364-5622-0514-34023AE0E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FastText</a:t>
            </a:r>
            <a:r>
              <a:rPr lang="en-US" dirty="0"/>
              <a:t> is a word embedding dataset created by the </a:t>
            </a:r>
            <a:r>
              <a:rPr lang="en-US" dirty="0" err="1"/>
              <a:t>FaceBook</a:t>
            </a:r>
            <a:r>
              <a:rPr lang="en-US" dirty="0"/>
              <a:t> Ai Research lab.</a:t>
            </a:r>
          </a:p>
          <a:p>
            <a:r>
              <a:rPr lang="en-US" dirty="0"/>
              <a:t>It provides word embeddings for 157 different languages, Greek being one of them.</a:t>
            </a:r>
          </a:p>
          <a:p>
            <a:r>
              <a:rPr lang="en-US" dirty="0"/>
              <a:t> The vectors we pre-trained on the </a:t>
            </a:r>
            <a:r>
              <a:rPr lang="en-US" b="1" dirty="0"/>
              <a:t>Common Crawl </a:t>
            </a:r>
            <a:r>
              <a:rPr lang="en-US" dirty="0"/>
              <a:t>and </a:t>
            </a:r>
            <a:r>
              <a:rPr lang="en-US" b="1" dirty="0"/>
              <a:t>Wikipedia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1804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2F9E-3268-BF03-691E-11F998EEC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C76E6-CF2C-94F5-B8B4-7C5254BA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0823"/>
            <a:ext cx="10515600" cy="4156139"/>
          </a:xfrm>
        </p:spPr>
        <p:txBody>
          <a:bodyPr/>
          <a:lstStyle/>
          <a:p>
            <a:r>
              <a:rPr lang="en-US" dirty="0"/>
              <a:t>The OGTD already has been pre-processed by its creators by removing user tags, emojis, emoticons and URLs.</a:t>
            </a:r>
          </a:p>
          <a:p>
            <a:r>
              <a:rPr lang="en-US" dirty="0"/>
              <a:t>In addition, we decided to </a:t>
            </a:r>
            <a:r>
              <a:rPr lang="en-US" b="1" dirty="0"/>
              <a:t>remove accents </a:t>
            </a:r>
            <a:r>
              <a:rPr lang="en-US" dirty="0"/>
              <a:t>from the text and </a:t>
            </a:r>
            <a:r>
              <a:rPr lang="en-US" b="1" dirty="0"/>
              <a:t>turn all uppercase letters to lowercase.</a:t>
            </a:r>
          </a:p>
          <a:p>
            <a:r>
              <a:rPr lang="en-US" dirty="0"/>
              <a:t>This will prove to be a major factor in improving model accuracy.</a:t>
            </a:r>
          </a:p>
        </p:txBody>
      </p:sp>
    </p:spTree>
    <p:extLst>
      <p:ext uri="{BB962C8B-B14F-4D97-AF65-F5344CB8AC3E}">
        <p14:creationId xmlns:p14="http://schemas.microsoft.com/office/powerpoint/2010/main" val="1341180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1D1F4-8867-EE34-98D8-E5C194246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The Baseline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B6DC5-CA71-AB66-7C77-E9576918E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baseline model uses a </a:t>
            </a:r>
            <a:r>
              <a:rPr lang="en-US" b="1" dirty="0"/>
              <a:t>TF-IDF (Term Frequency – Inverse Document Frequency)</a:t>
            </a:r>
            <a:r>
              <a:rPr lang="en-US" dirty="0"/>
              <a:t> vectorizer and </a:t>
            </a:r>
            <a:r>
              <a:rPr lang="en-US" b="1" dirty="0"/>
              <a:t>logistic regression </a:t>
            </a:r>
            <a:r>
              <a:rPr lang="en-US" dirty="0"/>
              <a:t>for the classification.</a:t>
            </a:r>
          </a:p>
          <a:p>
            <a:r>
              <a:rPr lang="en-US" dirty="0"/>
              <a:t>The TF-IDF vectorizer gives less importance to terms found commonly in the corpus and more importance to rarer terms.</a:t>
            </a:r>
          </a:p>
          <a:p>
            <a:r>
              <a:rPr lang="en-US" dirty="0"/>
              <a:t>The resulting vectors are used as input features for the </a:t>
            </a:r>
            <a:r>
              <a:rPr lang="en-US" b="1" dirty="0"/>
              <a:t>logistic regression classifier.</a:t>
            </a:r>
          </a:p>
        </p:txBody>
      </p:sp>
    </p:spTree>
    <p:extLst>
      <p:ext uri="{BB962C8B-B14F-4D97-AF65-F5344CB8AC3E}">
        <p14:creationId xmlns:p14="http://schemas.microsoft.com/office/powerpoint/2010/main" val="3996558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2E535-F518-1D1C-816F-FEC8D83A7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The Baseline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45402-E00D-D51D-5C22-BD5988CD8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feature (TF-IDF value), the model learns a weight parameter that represents its importance in determining the classification. The model computes a linear combination of these features and their learned weights.</a:t>
            </a:r>
          </a:p>
          <a:p>
            <a:r>
              <a:rPr lang="en-US" dirty="0"/>
              <a:t>During training, the logistic regression algorithm adjusts these weights to minimize classification error.</a:t>
            </a:r>
          </a:p>
          <a:p>
            <a:r>
              <a:rPr lang="en-US" dirty="0"/>
              <a:t>Frequent words in offensive tweets learn positive weights while words associated with non-offensive tweets learn negative weights.</a:t>
            </a:r>
          </a:p>
        </p:txBody>
      </p:sp>
    </p:spTree>
    <p:extLst>
      <p:ext uri="{BB962C8B-B14F-4D97-AF65-F5344CB8AC3E}">
        <p14:creationId xmlns:p14="http://schemas.microsoft.com/office/powerpoint/2010/main" val="150152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86726-C3ED-C6FA-45FF-D5E9DD98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The Baseline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4933C-3CDC-3DF8-02F4-59BE46D4A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computed weighted sum is fed into a </a:t>
            </a:r>
            <a:r>
              <a:rPr lang="en-US" b="1" dirty="0"/>
              <a:t>sigmoid function</a:t>
            </a:r>
            <a:r>
              <a:rPr lang="en-US" dirty="0"/>
              <a:t>.</a:t>
            </a:r>
          </a:p>
          <a:p>
            <a:r>
              <a:rPr lang="en-US" dirty="0"/>
              <a:t>The output of the sigmoid function ranges from 0 to 1, 0 being not offensive and 1 being offensive.</a:t>
            </a:r>
          </a:p>
          <a:p>
            <a:r>
              <a:rPr lang="en-US" dirty="0"/>
              <a:t>Based on the output of the function, the model determines whether the selected tweet is closer to being offensive or not offensive.</a:t>
            </a:r>
          </a:p>
        </p:txBody>
      </p:sp>
    </p:spTree>
    <p:extLst>
      <p:ext uri="{BB962C8B-B14F-4D97-AF65-F5344CB8AC3E}">
        <p14:creationId xmlns:p14="http://schemas.microsoft.com/office/powerpoint/2010/main" val="2970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D1F5-C0CB-AEFC-105E-F0729D53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The intermediate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1E0C7-B231-D670-0809-0BBBE2E63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intermediate model uses the </a:t>
            </a:r>
            <a:r>
              <a:rPr lang="en-US" b="1" dirty="0"/>
              <a:t>Greek </a:t>
            </a:r>
            <a:r>
              <a:rPr lang="en-US" b="1" dirty="0" err="1"/>
              <a:t>FastText</a:t>
            </a:r>
            <a:r>
              <a:rPr lang="en-US" b="1" dirty="0"/>
              <a:t> word embeddings</a:t>
            </a:r>
            <a:r>
              <a:rPr lang="en-US" dirty="0"/>
              <a:t> and a </a:t>
            </a:r>
            <a:r>
              <a:rPr lang="en-US" b="1" dirty="0" err="1"/>
              <a:t>BiLSTM</a:t>
            </a:r>
            <a:r>
              <a:rPr lang="en-US" dirty="0"/>
              <a:t> model with </a:t>
            </a:r>
            <a:r>
              <a:rPr lang="en-US" b="1" dirty="0"/>
              <a:t>cross-entropy loss </a:t>
            </a:r>
            <a:r>
              <a:rPr lang="en-US" dirty="0"/>
              <a:t>and </a:t>
            </a:r>
            <a:r>
              <a:rPr lang="en-US" b="1" dirty="0" err="1"/>
              <a:t>adam</a:t>
            </a:r>
            <a:r>
              <a:rPr lang="en-US" b="1" dirty="0"/>
              <a:t> optimizer </a:t>
            </a:r>
            <a:r>
              <a:rPr lang="en-US" dirty="0"/>
              <a:t>for classification.</a:t>
            </a:r>
          </a:p>
          <a:p>
            <a:r>
              <a:rPr lang="en-US" dirty="0"/>
              <a:t>Greek </a:t>
            </a:r>
            <a:r>
              <a:rPr lang="en-US" dirty="0" err="1"/>
              <a:t>FastText</a:t>
            </a:r>
            <a:r>
              <a:rPr lang="en-US" dirty="0"/>
              <a:t> provides pre-trained word embeddings.</a:t>
            </a:r>
          </a:p>
          <a:p>
            <a:r>
              <a:rPr lang="en-US" dirty="0" err="1"/>
              <a:t>FastText</a:t>
            </a:r>
            <a:r>
              <a:rPr lang="en-US" dirty="0"/>
              <a:t> is used to create word embeddings from the OGTD so the </a:t>
            </a:r>
            <a:r>
              <a:rPr lang="en-US" dirty="0" err="1"/>
              <a:t>BiLSTM</a:t>
            </a:r>
            <a:r>
              <a:rPr lang="en-US" dirty="0"/>
              <a:t> model can use them.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497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FE045-84A5-F4A5-3EF1-023633207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The </a:t>
            </a:r>
            <a:r>
              <a:rPr lang="en-US" sz="6000" dirty="0" err="1"/>
              <a:t>Intedmediate</a:t>
            </a:r>
            <a:r>
              <a:rPr lang="en-US" sz="6000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D7FB4-C51C-6DE8-84C3-F3E846259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BiLSTM</a:t>
            </a:r>
            <a:r>
              <a:rPr lang="en-US" dirty="0"/>
              <a:t> model is trained using the word embeddings we created for 5 epochs.</a:t>
            </a:r>
          </a:p>
          <a:p>
            <a:r>
              <a:rPr lang="en-US" dirty="0"/>
              <a:t>On each epoch we use cross-entropy loss to measure the performance of the model.</a:t>
            </a:r>
          </a:p>
          <a:p>
            <a:r>
              <a:rPr lang="en-US" dirty="0"/>
              <a:t>We also apply the </a:t>
            </a:r>
            <a:r>
              <a:rPr lang="en-US" dirty="0" err="1"/>
              <a:t>adam</a:t>
            </a:r>
            <a:r>
              <a:rPr lang="en-US" dirty="0"/>
              <a:t> optimizer on each epoch to adjust the learning rates.</a:t>
            </a:r>
          </a:p>
        </p:txBody>
      </p:sp>
    </p:spTree>
    <p:extLst>
      <p:ext uri="{BB962C8B-B14F-4D97-AF65-F5344CB8AC3E}">
        <p14:creationId xmlns:p14="http://schemas.microsoft.com/office/powerpoint/2010/main" val="1460645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E4331-A71F-E9F8-0387-FB36402BA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The Advanced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79C1A-F778-D925-B788-F469012B9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third and final model uses the BERT model and specifically the </a:t>
            </a:r>
            <a:r>
              <a:rPr lang="en-US" b="1" dirty="0" err="1"/>
              <a:t>GreekBERT</a:t>
            </a:r>
            <a:r>
              <a:rPr lang="en-US" dirty="0"/>
              <a:t> model.</a:t>
            </a:r>
          </a:p>
          <a:p>
            <a:r>
              <a:rPr lang="en-US" dirty="0"/>
              <a:t>BERT or </a:t>
            </a:r>
            <a:r>
              <a:rPr lang="en-US" b="1" dirty="0"/>
              <a:t>Bidirectional Encoder Representations </a:t>
            </a:r>
            <a:r>
              <a:rPr lang="en-US" dirty="0"/>
              <a:t>from Transformers, as the name suggests is a deep learning model based on the transformer architecture.</a:t>
            </a:r>
          </a:p>
          <a:p>
            <a:r>
              <a:rPr lang="en-US" dirty="0"/>
              <a:t>Transformers operate by leveraging attention</a:t>
            </a:r>
            <a:r>
              <a:rPr lang="el-GR" dirty="0"/>
              <a:t>.</a:t>
            </a:r>
          </a:p>
          <a:p>
            <a:r>
              <a:rPr lang="en-US" dirty="0"/>
              <a:t>Transformers learn to focus on the important parts of a sentence by successively processing an input through a stack of transformer layers, typically called the encoder.</a:t>
            </a:r>
          </a:p>
        </p:txBody>
      </p:sp>
    </p:spTree>
    <p:extLst>
      <p:ext uri="{BB962C8B-B14F-4D97-AF65-F5344CB8AC3E}">
        <p14:creationId xmlns:p14="http://schemas.microsoft.com/office/powerpoint/2010/main" val="467884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7840D-C637-567B-B3FA-F4861053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The Advanced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03355-9AA3-6F0A-0E8A-ED5EE4D12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necessary, another stack of transformer layers (the decoder) can be used to predict a target output although BERT doesn’t use a decoder.</a:t>
            </a:r>
          </a:p>
          <a:p>
            <a:r>
              <a:rPr lang="en-US" dirty="0"/>
              <a:t>The original BERT model was trained on a dataset of 3.3 billion words.</a:t>
            </a:r>
          </a:p>
          <a:p>
            <a:r>
              <a:rPr lang="en-US" dirty="0"/>
              <a:t>For our task, we used </a:t>
            </a:r>
            <a:r>
              <a:rPr lang="en-US" dirty="0" err="1"/>
              <a:t>GreekBERT</a:t>
            </a:r>
            <a:r>
              <a:rPr lang="en-US" dirty="0"/>
              <a:t> which is based on the original BERT model but has been trained on Greek data.</a:t>
            </a:r>
          </a:p>
        </p:txBody>
      </p:sp>
    </p:spTree>
    <p:extLst>
      <p:ext uri="{BB962C8B-B14F-4D97-AF65-F5344CB8AC3E}">
        <p14:creationId xmlns:p14="http://schemas.microsoft.com/office/powerpoint/2010/main" val="3159718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24B06-29BD-38B9-3C51-C5964244B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The Results</a:t>
            </a:r>
          </a:p>
        </p:txBody>
      </p:sp>
    </p:spTree>
    <p:extLst>
      <p:ext uri="{BB962C8B-B14F-4D97-AF65-F5344CB8AC3E}">
        <p14:creationId xmlns:p14="http://schemas.microsoft.com/office/powerpoint/2010/main" val="4203847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364BE-FC21-30F4-5376-4FED2D8FD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The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446D9-8BF3-7620-D7B2-22077D417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experiments were conducted on a PC with the following specifications:</a:t>
            </a:r>
          </a:p>
          <a:p>
            <a:pPr lvl="1"/>
            <a:r>
              <a:rPr lang="en-US" sz="2800" dirty="0"/>
              <a:t>GPU: AMD RX6800</a:t>
            </a:r>
          </a:p>
          <a:p>
            <a:pPr lvl="1"/>
            <a:r>
              <a:rPr lang="en-US" sz="2800" dirty="0"/>
              <a:t>CPU: AMD Ryzen 7 5800x3D</a:t>
            </a:r>
          </a:p>
          <a:p>
            <a:pPr lvl="1"/>
            <a:r>
              <a:rPr lang="en-US" sz="2800" dirty="0"/>
              <a:t>RAM: 16GB DDR4 at 3200 MHz</a:t>
            </a:r>
          </a:p>
          <a:p>
            <a:pPr lvl="1"/>
            <a:r>
              <a:rPr lang="en-US" sz="2800" dirty="0"/>
              <a:t>SSD: Kingston M.2 NVMe SSD</a:t>
            </a:r>
          </a:p>
          <a:p>
            <a:pPr marL="457200" lvl="1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56828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34E7-8768-8E81-5AC8-62076223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Model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C6278-3AB8-C8CB-1B69-998243323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the baseline model (TF-IDF + Logistic Regression):</a:t>
            </a:r>
          </a:p>
          <a:p>
            <a:r>
              <a:rPr lang="en-US" dirty="0"/>
              <a:t>Maximum features: 10,000</a:t>
            </a:r>
          </a:p>
          <a:p>
            <a:r>
              <a:rPr lang="en-US" dirty="0"/>
              <a:t>N-gram range: 1-2</a:t>
            </a:r>
          </a:p>
          <a:p>
            <a:r>
              <a:rPr lang="en-US" dirty="0"/>
              <a:t>Maximum iterations: 1,000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389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5E745-04D7-3307-64B4-3FB9BF76E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BD5D0-89F3-AE1D-EABF-1084A40E5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Model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EA625-C6C0-B4E4-B7B0-626F8198E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the intermediate model (</a:t>
            </a:r>
            <a:r>
              <a:rPr lang="en-US" dirty="0" err="1"/>
              <a:t>FastText</a:t>
            </a:r>
            <a:r>
              <a:rPr lang="en-US" dirty="0"/>
              <a:t> + </a:t>
            </a:r>
            <a:r>
              <a:rPr lang="en-US" dirty="0" err="1"/>
              <a:t>BiLSTM</a:t>
            </a:r>
            <a:r>
              <a:rPr lang="en-US" dirty="0"/>
              <a:t>):</a:t>
            </a:r>
          </a:p>
          <a:p>
            <a:pPr lvl="0"/>
            <a:r>
              <a:rPr lang="en-US" dirty="0"/>
              <a:t>Embedding dimensions</a:t>
            </a:r>
            <a:r>
              <a:rPr lang="el-GR" dirty="0"/>
              <a:t>: 300</a:t>
            </a:r>
            <a:endParaRPr lang="en-US" dirty="0"/>
          </a:p>
          <a:p>
            <a:pPr lvl="0"/>
            <a:r>
              <a:rPr lang="en-US" dirty="0"/>
              <a:t>LSTM units: 256</a:t>
            </a:r>
          </a:p>
          <a:p>
            <a:pPr lvl="0"/>
            <a:r>
              <a:rPr lang="en-US" dirty="0"/>
              <a:t>LSTM layers: 2</a:t>
            </a:r>
          </a:p>
          <a:p>
            <a:r>
              <a:rPr lang="en-US" dirty="0"/>
              <a:t>LSTM dropout: 0.5</a:t>
            </a:r>
          </a:p>
          <a:p>
            <a:r>
              <a:rPr lang="en-US" dirty="0"/>
              <a:t>Training epochs: 5</a:t>
            </a:r>
          </a:p>
          <a:p>
            <a:r>
              <a:rPr lang="en-US" dirty="0"/>
              <a:t>Learning rate: 1e-3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27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A670F-3ECC-A1C1-B553-974B4C54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FE5D-1380-E7E1-6C03-5AE25EBF4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Model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05522-94D8-425A-FBDB-71101F9D6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the advanced model (</a:t>
            </a:r>
            <a:r>
              <a:rPr lang="en-US" dirty="0" err="1"/>
              <a:t>GreekBERT</a:t>
            </a:r>
            <a:r>
              <a:rPr lang="en-US" dirty="0"/>
              <a:t>):</a:t>
            </a:r>
          </a:p>
          <a:p>
            <a:pPr lvl="0"/>
            <a:r>
              <a:rPr lang="en-US" dirty="0"/>
              <a:t>Model size: ~110M parameters</a:t>
            </a:r>
          </a:p>
          <a:p>
            <a:pPr lvl="0"/>
            <a:r>
              <a:rPr lang="en-US" dirty="0"/>
              <a:t>Embedding dimensions: 768</a:t>
            </a:r>
          </a:p>
          <a:p>
            <a:pPr lvl="0"/>
            <a:r>
              <a:rPr lang="en-US" dirty="0"/>
              <a:t>Batch Size: 16</a:t>
            </a:r>
          </a:p>
          <a:p>
            <a:pPr lvl="0"/>
            <a:r>
              <a:rPr lang="en-US" dirty="0"/>
              <a:t>Training epochs: 4</a:t>
            </a:r>
          </a:p>
          <a:p>
            <a:pPr lvl="0"/>
            <a:r>
              <a:rPr lang="en-US" dirty="0"/>
              <a:t>Learning Rate: 2e-5</a:t>
            </a:r>
          </a:p>
        </p:txBody>
      </p:sp>
    </p:spTree>
    <p:extLst>
      <p:ext uri="{BB962C8B-B14F-4D97-AF65-F5344CB8AC3E}">
        <p14:creationId xmlns:p14="http://schemas.microsoft.com/office/powerpoint/2010/main" val="3027324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EFCE4-B72B-01DD-2065-239F138E3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38D0-7E3A-04A6-6FF1-562C3E83C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Review of the Data</a:t>
            </a:r>
          </a:p>
        </p:txBody>
      </p:sp>
    </p:spTree>
    <p:extLst>
      <p:ext uri="{BB962C8B-B14F-4D97-AF65-F5344CB8AC3E}">
        <p14:creationId xmlns:p14="http://schemas.microsoft.com/office/powerpoint/2010/main" val="1541240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0F88F61-B3E7-F529-F564-CA072241E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Baseline model confusion matrix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18C9CFE-995A-CA8A-2778-D83AB05665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1326579"/>
              </p:ext>
            </p:extLst>
          </p:nvPr>
        </p:nvGraphicFramePr>
        <p:xfrm>
          <a:off x="320040" y="3098478"/>
          <a:ext cx="11548873" cy="2656341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869908">
                  <a:extLst>
                    <a:ext uri="{9D8B030D-6E8A-4147-A177-3AD203B41FA5}">
                      <a16:colId xmlns:a16="http://schemas.microsoft.com/office/drawing/2014/main" val="1589278202"/>
                    </a:ext>
                  </a:extLst>
                </a:gridCol>
                <a:gridCol w="4600921">
                  <a:extLst>
                    <a:ext uri="{9D8B030D-6E8A-4147-A177-3AD203B41FA5}">
                      <a16:colId xmlns:a16="http://schemas.microsoft.com/office/drawing/2014/main" val="24455531"/>
                    </a:ext>
                  </a:extLst>
                </a:gridCol>
                <a:gridCol w="4078044">
                  <a:extLst>
                    <a:ext uri="{9D8B030D-6E8A-4147-A177-3AD203B41FA5}">
                      <a16:colId xmlns:a16="http://schemas.microsoft.com/office/drawing/2014/main" val="3430836541"/>
                    </a:ext>
                  </a:extLst>
                </a:gridCol>
              </a:tblGrid>
              <a:tr h="885447">
                <a:tc>
                  <a:txBody>
                    <a:bodyPr/>
                    <a:lstStyle/>
                    <a:p>
                      <a:endParaRPr lang="en-US" sz="29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243186" marR="187066" marT="187066" marB="1870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0" cap="none" spc="0">
                          <a:solidFill>
                            <a:schemeClr val="bg1"/>
                          </a:solidFill>
                        </a:rPr>
                        <a:t>Labeled as not offensive</a:t>
                      </a:r>
                    </a:p>
                  </a:txBody>
                  <a:tcPr marL="243186" marR="187066" marT="187066" marB="18706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0" cap="none" spc="0">
                          <a:solidFill>
                            <a:schemeClr val="bg1"/>
                          </a:solidFill>
                        </a:rPr>
                        <a:t>Labeled as Offensive</a:t>
                      </a:r>
                    </a:p>
                  </a:txBody>
                  <a:tcPr marL="243186" marR="187066" marT="187066" marB="18706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967089"/>
                  </a:ext>
                </a:extLst>
              </a:tr>
              <a:tr h="885447">
                <a:tc>
                  <a:txBody>
                    <a:bodyPr/>
                    <a:lstStyle/>
                    <a:p>
                      <a:r>
                        <a:rPr lang="en-US" sz="2900" cap="none" spc="0">
                          <a:solidFill>
                            <a:schemeClr val="tx1"/>
                          </a:solidFill>
                        </a:rPr>
                        <a:t>Not Offensive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cap="none" spc="0" dirty="0">
                          <a:solidFill>
                            <a:schemeClr val="tx1"/>
                          </a:solidFill>
                        </a:rPr>
                        <a:t>1286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cap="none" spc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65879"/>
                  </a:ext>
                </a:extLst>
              </a:tr>
              <a:tr h="885447">
                <a:tc>
                  <a:txBody>
                    <a:bodyPr/>
                    <a:lstStyle/>
                    <a:p>
                      <a:r>
                        <a:rPr lang="en-US" sz="2900" cap="none" spc="0">
                          <a:solidFill>
                            <a:schemeClr val="tx1"/>
                          </a:solidFill>
                        </a:rPr>
                        <a:t>Offensive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cap="none" spc="0" dirty="0">
                          <a:solidFill>
                            <a:schemeClr val="tx1"/>
                          </a:solidFill>
                        </a:rPr>
                        <a:t>63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cap="none" spc="0" dirty="0">
                          <a:solidFill>
                            <a:schemeClr val="tx1"/>
                          </a:solidFill>
                        </a:rPr>
                        <a:t>179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3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719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C3AC9-0601-A9DE-4C08-D87CE57F2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E2DA7D8-9904-6B99-8498-FDF942B90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941B96C-37BF-37C3-C167-EE5151B64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Intermediate model confusion matrix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1C36EAD8-0368-730F-0700-AA50AD94E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8EAF014-4888-0FC6-AD38-CB3E44FDC7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7206008"/>
              </p:ext>
            </p:extLst>
          </p:nvPr>
        </p:nvGraphicFramePr>
        <p:xfrm>
          <a:off x="320040" y="3098478"/>
          <a:ext cx="11548873" cy="2656341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869908">
                  <a:extLst>
                    <a:ext uri="{9D8B030D-6E8A-4147-A177-3AD203B41FA5}">
                      <a16:colId xmlns:a16="http://schemas.microsoft.com/office/drawing/2014/main" val="1589278202"/>
                    </a:ext>
                  </a:extLst>
                </a:gridCol>
                <a:gridCol w="4600921">
                  <a:extLst>
                    <a:ext uri="{9D8B030D-6E8A-4147-A177-3AD203B41FA5}">
                      <a16:colId xmlns:a16="http://schemas.microsoft.com/office/drawing/2014/main" val="24455531"/>
                    </a:ext>
                  </a:extLst>
                </a:gridCol>
                <a:gridCol w="4078044">
                  <a:extLst>
                    <a:ext uri="{9D8B030D-6E8A-4147-A177-3AD203B41FA5}">
                      <a16:colId xmlns:a16="http://schemas.microsoft.com/office/drawing/2014/main" val="3430836541"/>
                    </a:ext>
                  </a:extLst>
                </a:gridCol>
              </a:tblGrid>
              <a:tr h="885447">
                <a:tc>
                  <a:txBody>
                    <a:bodyPr/>
                    <a:lstStyle/>
                    <a:p>
                      <a:endParaRPr lang="en-US" sz="29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243186" marR="187066" marT="187066" marB="1870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0" cap="none" spc="0">
                          <a:solidFill>
                            <a:schemeClr val="bg1"/>
                          </a:solidFill>
                        </a:rPr>
                        <a:t>Labeled as not offensive</a:t>
                      </a:r>
                    </a:p>
                  </a:txBody>
                  <a:tcPr marL="243186" marR="187066" marT="187066" marB="18706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0" cap="none" spc="0">
                          <a:solidFill>
                            <a:schemeClr val="bg1"/>
                          </a:solidFill>
                        </a:rPr>
                        <a:t>Labeled as Offensive</a:t>
                      </a:r>
                    </a:p>
                  </a:txBody>
                  <a:tcPr marL="243186" marR="187066" marT="187066" marB="18706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967089"/>
                  </a:ext>
                </a:extLst>
              </a:tr>
              <a:tr h="885447">
                <a:tc>
                  <a:txBody>
                    <a:bodyPr/>
                    <a:lstStyle/>
                    <a:p>
                      <a:r>
                        <a:rPr lang="en-US" sz="2900" cap="none" spc="0">
                          <a:solidFill>
                            <a:schemeClr val="tx1"/>
                          </a:solidFill>
                        </a:rPr>
                        <a:t>Not Offensive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cap="none" spc="0" dirty="0">
                          <a:solidFill>
                            <a:schemeClr val="tx1"/>
                          </a:solidFill>
                        </a:rPr>
                        <a:t>1228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cap="none" spc="0" dirty="0">
                          <a:solidFill>
                            <a:schemeClr val="tx1"/>
                          </a:solidFill>
                        </a:rPr>
                        <a:t>74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65879"/>
                  </a:ext>
                </a:extLst>
              </a:tr>
              <a:tr h="885447">
                <a:tc>
                  <a:txBody>
                    <a:bodyPr/>
                    <a:lstStyle/>
                    <a:p>
                      <a:r>
                        <a:rPr lang="en-US" sz="2900" cap="none" spc="0">
                          <a:solidFill>
                            <a:schemeClr val="tx1"/>
                          </a:solidFill>
                        </a:rPr>
                        <a:t>Offensive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cap="none" spc="0" dirty="0">
                          <a:solidFill>
                            <a:schemeClr val="tx1"/>
                          </a:solidFill>
                        </a:rPr>
                        <a:t>56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cap="none" spc="0" dirty="0">
                          <a:solidFill>
                            <a:schemeClr val="tx1"/>
                          </a:solidFill>
                        </a:rPr>
                        <a:t>186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3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351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93024-A5C4-3D2E-2983-98A116A6E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3F125F8-ACD8-D5C5-7550-0815127EC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17C9D5E-352D-1CC1-E624-EB46AFFF6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Advanced model confusion matrix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09A1F18-0678-F594-1A2E-CA013D5BB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3A9C5D4-479F-EAF6-8030-AD9FFBBD34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3930956"/>
              </p:ext>
            </p:extLst>
          </p:nvPr>
        </p:nvGraphicFramePr>
        <p:xfrm>
          <a:off x="320040" y="3098478"/>
          <a:ext cx="11548873" cy="2656341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869908">
                  <a:extLst>
                    <a:ext uri="{9D8B030D-6E8A-4147-A177-3AD203B41FA5}">
                      <a16:colId xmlns:a16="http://schemas.microsoft.com/office/drawing/2014/main" val="1589278202"/>
                    </a:ext>
                  </a:extLst>
                </a:gridCol>
                <a:gridCol w="4600921">
                  <a:extLst>
                    <a:ext uri="{9D8B030D-6E8A-4147-A177-3AD203B41FA5}">
                      <a16:colId xmlns:a16="http://schemas.microsoft.com/office/drawing/2014/main" val="24455531"/>
                    </a:ext>
                  </a:extLst>
                </a:gridCol>
                <a:gridCol w="4078044">
                  <a:extLst>
                    <a:ext uri="{9D8B030D-6E8A-4147-A177-3AD203B41FA5}">
                      <a16:colId xmlns:a16="http://schemas.microsoft.com/office/drawing/2014/main" val="3430836541"/>
                    </a:ext>
                  </a:extLst>
                </a:gridCol>
              </a:tblGrid>
              <a:tr h="885447">
                <a:tc>
                  <a:txBody>
                    <a:bodyPr/>
                    <a:lstStyle/>
                    <a:p>
                      <a:endParaRPr lang="en-US" sz="29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243186" marR="187066" marT="187066" marB="18706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0" cap="none" spc="0">
                          <a:solidFill>
                            <a:schemeClr val="bg1"/>
                          </a:solidFill>
                        </a:rPr>
                        <a:t>Labeled as not offensive</a:t>
                      </a:r>
                    </a:p>
                  </a:txBody>
                  <a:tcPr marL="243186" marR="187066" marT="187066" marB="18706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0" cap="none" spc="0">
                          <a:solidFill>
                            <a:schemeClr val="bg1"/>
                          </a:solidFill>
                        </a:rPr>
                        <a:t>Labeled as Offensive</a:t>
                      </a:r>
                    </a:p>
                  </a:txBody>
                  <a:tcPr marL="243186" marR="187066" marT="187066" marB="18706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967089"/>
                  </a:ext>
                </a:extLst>
              </a:tr>
              <a:tr h="885447">
                <a:tc>
                  <a:txBody>
                    <a:bodyPr/>
                    <a:lstStyle/>
                    <a:p>
                      <a:r>
                        <a:rPr lang="en-US" sz="2900" cap="none" spc="0">
                          <a:solidFill>
                            <a:schemeClr val="tx1"/>
                          </a:solidFill>
                        </a:rPr>
                        <a:t>Not Offensive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cap="none" spc="0" dirty="0">
                          <a:solidFill>
                            <a:schemeClr val="tx1"/>
                          </a:solidFill>
                        </a:rPr>
                        <a:t>1163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cap="none" spc="0" dirty="0">
                          <a:solidFill>
                            <a:schemeClr val="tx1"/>
                          </a:solidFill>
                        </a:rPr>
                        <a:t>139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65879"/>
                  </a:ext>
                </a:extLst>
              </a:tr>
              <a:tr h="885447">
                <a:tc>
                  <a:txBody>
                    <a:bodyPr/>
                    <a:lstStyle/>
                    <a:p>
                      <a:r>
                        <a:rPr lang="en-US" sz="2900" cap="none" spc="0">
                          <a:solidFill>
                            <a:schemeClr val="tx1"/>
                          </a:solidFill>
                        </a:rPr>
                        <a:t>Offensive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cap="none" spc="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cap="none" spc="0" dirty="0">
                          <a:solidFill>
                            <a:schemeClr val="tx1"/>
                          </a:solidFill>
                        </a:rPr>
                        <a:t>225</a:t>
                      </a:r>
                    </a:p>
                  </a:txBody>
                  <a:tcPr marL="243186" marR="187066" marT="187066" marB="187066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3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8102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F4B37-B982-9CE0-8B0C-6913EFA30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 Performance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EA581FE-0CD7-6C46-7F01-C33CE0278C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05105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59854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45D98-9D3C-0EA5-A751-1CEEB7620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9610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What does the data tell us?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4840992-6D81-E278-65C2-E6663D1BF1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139517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4BB56-089B-F4FC-9140-29BBA904E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Firstly, we can see that the pre-processing of the data resulted in higher scores across the 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Notably, the intermediate models performance jumped from 57% to 85%, reinforcing the importance of pre-processing.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471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264F7-DDF9-3E02-9077-5F322FE33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15B6F61-41B6-6172-91C7-DCD9A80673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3594795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BA4E3-F14C-F4E1-F1D6-7878FFF90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5184"/>
            <a:ext cx="3932237" cy="325380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Looking at the Macro F1 score, we can see that it follows a downward trend. But what happens if we take a closer look?</a:t>
            </a:r>
          </a:p>
        </p:txBody>
      </p:sp>
    </p:spTree>
    <p:extLst>
      <p:ext uri="{BB962C8B-B14F-4D97-AF65-F5344CB8AC3E}">
        <p14:creationId xmlns:p14="http://schemas.microsoft.com/office/powerpoint/2010/main" val="1282597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60ABFCB-CFF0-5EAC-856B-21F0C521E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89345"/>
            <a:ext cx="3932237" cy="1196109"/>
          </a:xfrm>
        </p:spPr>
        <p:txBody>
          <a:bodyPr>
            <a:normAutofit fontScale="90000"/>
          </a:bodyPr>
          <a:lstStyle/>
          <a:p>
            <a:r>
              <a:rPr lang="en-US" dirty="0"/>
              <a:t>Looking at the data for “offensive” classification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68D8D32-E884-2444-331F-DC79F3A56F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6470940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84B78-D61E-01BD-0F3A-9A34EF1E7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518443"/>
            <a:ext cx="3932237" cy="38115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Precision follows a downward trend.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Recall follows an upward trend.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means that as complexity increased, </a:t>
            </a:r>
            <a:r>
              <a:rPr lang="en-US" sz="1800" b="1" dirty="0"/>
              <a:t>the number of not “offensive” tweets classified incorrectly as “offensive” increased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But it also means that </a:t>
            </a:r>
            <a:r>
              <a:rPr lang="en-US" sz="1800" b="1" dirty="0"/>
              <a:t>the number of “offensive” tweets correctly classified as “offensive” also increased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From the data we can deduce that </a:t>
            </a:r>
            <a:r>
              <a:rPr lang="en-US" sz="1800" b="1" dirty="0"/>
              <a:t>correct “offensive” tweet classifications increased at the cost of increased false flags </a:t>
            </a:r>
            <a:r>
              <a:rPr lang="en-US" sz="1800" dirty="0"/>
              <a:t>(“not offensive” tweets labeled as “offensive’).</a:t>
            </a:r>
          </a:p>
        </p:txBody>
      </p:sp>
    </p:spTree>
    <p:extLst>
      <p:ext uri="{BB962C8B-B14F-4D97-AF65-F5344CB8AC3E}">
        <p14:creationId xmlns:p14="http://schemas.microsoft.com/office/powerpoint/2010/main" val="2112834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A2350-0674-ED1A-D733-4F06E3C0B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C6942-25DD-44BA-35F3-225BC080D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87325"/>
            <a:ext cx="3932237" cy="1600200"/>
          </a:xfrm>
        </p:spPr>
        <p:txBody>
          <a:bodyPr>
            <a:normAutofit/>
          </a:bodyPr>
          <a:lstStyle/>
          <a:p>
            <a:r>
              <a:rPr lang="en-US" sz="2900" dirty="0"/>
              <a:t>Looking at the data for “not offensive” classification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42ECF63-502A-62C3-AF03-946010F472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5101176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E5569-CDAF-81DC-F901-CF547A798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4450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time </a:t>
            </a:r>
            <a:r>
              <a:rPr lang="en-US" sz="1800" b="1" dirty="0"/>
              <a:t>the trends are reversed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We see that precision goes up and recall goes down.</a:t>
            </a:r>
            <a:endParaRPr lang="el-G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means that the lower the complexity, the more “not offensive” tweets were correctly classified as “not offensive”.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Just like before, this is at the cost of more false negatives (“offensive” tweets classified as “not offensive”).</a:t>
            </a:r>
          </a:p>
        </p:txBody>
      </p:sp>
    </p:spTree>
    <p:extLst>
      <p:ext uri="{BB962C8B-B14F-4D97-AF65-F5344CB8AC3E}">
        <p14:creationId xmlns:p14="http://schemas.microsoft.com/office/powerpoint/2010/main" val="31263158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E522-2FFC-70E3-1E01-B1163D9F4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What causes this?</a:t>
            </a:r>
          </a:p>
        </p:txBody>
      </p:sp>
    </p:spTree>
    <p:extLst>
      <p:ext uri="{BB962C8B-B14F-4D97-AF65-F5344CB8AC3E}">
        <p14:creationId xmlns:p14="http://schemas.microsoft.com/office/powerpoint/2010/main" val="3749146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3C2BB-12E7-0AF0-1314-E870A666A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CD757-E143-4D5D-73BF-7E3067621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402336"/>
            <a:ext cx="3932237" cy="1335024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Looking at the OGTD dataset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E34E304-1CEF-BD15-284C-63D65FA4EB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5439330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84830-AD45-D637-E0B3-0FE26BEFD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The dataset includes ~5 thousand tweets in total.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Of those tweets, only 1401 are offensive.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This causes the dataset to be imbalanced.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r>
              <a:rPr lang="en-US" sz="2200" b="1" dirty="0"/>
              <a:t>NOTE: There was an attempt at “cutting” the number of not offensive tweets to match the number of offensive tweets.</a:t>
            </a:r>
          </a:p>
          <a:p>
            <a:r>
              <a:rPr lang="en-US" sz="2200" b="1" dirty="0"/>
              <a:t>It resulted in worse results across the board so it wasn’t used in the end.</a:t>
            </a:r>
          </a:p>
        </p:txBody>
      </p:sp>
    </p:spTree>
    <p:extLst>
      <p:ext uri="{BB962C8B-B14F-4D97-AF65-F5344CB8AC3E}">
        <p14:creationId xmlns:p14="http://schemas.microsoft.com/office/powerpoint/2010/main" val="15802657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F5A3C-06B8-114E-7857-7B841134B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C80B-4B49-F54C-1460-4E66ABAD3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Deep learning and data scarcity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0F0EB-ED9C-75B6-C250-59FF6C67A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first model uses traditional machine learning whereas the other two models use deep learning.</a:t>
            </a:r>
          </a:p>
          <a:p>
            <a:r>
              <a:rPr lang="en-US" dirty="0"/>
              <a:t>Deep learning models typically require large amounts of data to achieve optimal results.</a:t>
            </a:r>
          </a:p>
          <a:p>
            <a:r>
              <a:rPr lang="en-US" dirty="0"/>
              <a:t>Given that the dataset was ~5 thousand tweets, it may not be sufficiently large to provide adequate information for training our deep learning models.</a:t>
            </a:r>
          </a:p>
        </p:txBody>
      </p:sp>
    </p:spTree>
    <p:extLst>
      <p:ext uri="{BB962C8B-B14F-4D97-AF65-F5344CB8AC3E}">
        <p14:creationId xmlns:p14="http://schemas.microsoft.com/office/powerpoint/2010/main" val="42734234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128A9-26FC-0C60-4B6A-A8FE406A6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A79EF-97E7-FBBB-6D69-0CEA5C93F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 err="1"/>
              <a:t>FastText</a:t>
            </a:r>
            <a:r>
              <a:rPr lang="en-US" sz="6000" dirty="0"/>
              <a:t> and </a:t>
            </a:r>
            <a:r>
              <a:rPr lang="en-US" sz="6000" dirty="0" err="1"/>
              <a:t>GreekBERT</a:t>
            </a:r>
            <a:r>
              <a:rPr lang="en-US" sz="6000" dirty="0"/>
              <a:t>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99164-CFA9-C161-61B5-41D6C58CA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</a:t>
            </a:r>
            <a:r>
              <a:rPr lang="en-US" dirty="0" err="1"/>
              <a:t>FastText</a:t>
            </a:r>
            <a:r>
              <a:rPr lang="en-US" dirty="0"/>
              <a:t> and </a:t>
            </a:r>
            <a:r>
              <a:rPr lang="en-US" dirty="0" err="1"/>
              <a:t>GreekBERT</a:t>
            </a:r>
            <a:r>
              <a:rPr lang="en-US" dirty="0"/>
              <a:t> come out of the box with training.</a:t>
            </a:r>
          </a:p>
          <a:p>
            <a:r>
              <a:rPr lang="en-US" dirty="0" err="1"/>
              <a:t>FastText</a:t>
            </a:r>
            <a:r>
              <a:rPr lang="en-US" dirty="0"/>
              <a:t> is trained on </a:t>
            </a:r>
            <a:r>
              <a:rPr lang="en-US" b="1" dirty="0"/>
              <a:t>Common Crawl</a:t>
            </a:r>
            <a:r>
              <a:rPr lang="en-US" dirty="0"/>
              <a:t> and </a:t>
            </a:r>
            <a:r>
              <a:rPr lang="en-US" b="1" dirty="0"/>
              <a:t>Wikipedia</a:t>
            </a:r>
            <a:r>
              <a:rPr lang="en-US" dirty="0"/>
              <a:t> with tokenization performed by the </a:t>
            </a:r>
            <a:r>
              <a:rPr lang="en-US" dirty="0" err="1"/>
              <a:t>Europarl</a:t>
            </a:r>
            <a:r>
              <a:rPr lang="en-US" dirty="0"/>
              <a:t> preprocessing tools.</a:t>
            </a:r>
          </a:p>
          <a:p>
            <a:r>
              <a:rPr lang="en-US" dirty="0" err="1"/>
              <a:t>GreekBERT</a:t>
            </a:r>
            <a:r>
              <a:rPr lang="en-US" dirty="0"/>
              <a:t> is trained on the </a:t>
            </a:r>
            <a:r>
              <a:rPr lang="en-US" b="1" dirty="0"/>
              <a:t>Greek section of Wikipedia</a:t>
            </a:r>
            <a:r>
              <a:rPr lang="en-US" dirty="0"/>
              <a:t>, data from the </a:t>
            </a:r>
            <a:r>
              <a:rPr lang="en-US" b="1" dirty="0"/>
              <a:t>Greek Parliament</a:t>
            </a:r>
            <a:r>
              <a:rPr lang="en-US" dirty="0"/>
              <a:t>, and the </a:t>
            </a:r>
            <a:r>
              <a:rPr lang="en-US" b="1" dirty="0"/>
              <a:t>Greek portion of OSCAR </a:t>
            </a:r>
            <a:r>
              <a:rPr lang="en-US" dirty="0"/>
              <a:t>(Open Super-large Crawled Aggregated </a:t>
            </a:r>
            <a:r>
              <a:rPr lang="en-US" dirty="0" err="1"/>
              <a:t>coRpus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567097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5F1A8-6975-A372-F6A8-268A676D5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A6CA-4601-A42E-25B7-DFB331C89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 err="1"/>
              <a:t>FastText</a:t>
            </a:r>
            <a:r>
              <a:rPr lang="en-US" sz="6000" dirty="0"/>
              <a:t> and </a:t>
            </a:r>
            <a:r>
              <a:rPr lang="en-US" sz="6000" dirty="0" err="1"/>
              <a:t>GreekBERT</a:t>
            </a:r>
            <a:r>
              <a:rPr lang="en-US" sz="6000" dirty="0"/>
              <a:t>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D9AA0-FBB7-07D2-91C6-98878000F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 of those only Common crawl and OSCAR (which is a filtered version of common crawl) may include curse words.</a:t>
            </a:r>
          </a:p>
          <a:p>
            <a:r>
              <a:rPr lang="en-US" dirty="0"/>
              <a:t>This means that both </a:t>
            </a:r>
            <a:r>
              <a:rPr lang="en-US" dirty="0" err="1"/>
              <a:t>FastText</a:t>
            </a:r>
            <a:r>
              <a:rPr lang="en-US" dirty="0"/>
              <a:t> and </a:t>
            </a:r>
            <a:r>
              <a:rPr lang="en-US" dirty="0" err="1"/>
              <a:t>GreekBERT</a:t>
            </a:r>
            <a:r>
              <a:rPr lang="en-US" dirty="0"/>
              <a:t> were trained on data that includes minimal profanity.</a:t>
            </a:r>
          </a:p>
        </p:txBody>
      </p:sp>
    </p:spTree>
    <p:extLst>
      <p:ext uri="{BB962C8B-B14F-4D97-AF65-F5344CB8AC3E}">
        <p14:creationId xmlns:p14="http://schemas.microsoft.com/office/powerpoint/2010/main" val="17888970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A4C15-C2EA-83FE-1B24-056848671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5C8B-0C19-E600-49D1-B3ADA3E48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Why does the baseline excel?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E5D24-3A76-36A3-B203-387428554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baseline model doesn’t need a big amount of data to perform optimally in contrast to the deep learning models.</a:t>
            </a:r>
          </a:p>
          <a:p>
            <a:r>
              <a:rPr lang="en-US" dirty="0"/>
              <a:t>The baseline model was the best at classifying “not offensive” tweets, which took up the bulk of the data.</a:t>
            </a:r>
          </a:p>
          <a:p>
            <a:r>
              <a:rPr lang="en-US" dirty="0"/>
              <a:t>It also performed worse on classifying offensive tweets but not by too much.</a:t>
            </a:r>
          </a:p>
          <a:p>
            <a:r>
              <a:rPr lang="en-US" dirty="0"/>
              <a:t>This leads to a better macro F1 score.</a:t>
            </a:r>
          </a:p>
        </p:txBody>
      </p:sp>
    </p:spTree>
    <p:extLst>
      <p:ext uri="{BB962C8B-B14F-4D97-AF65-F5344CB8AC3E}">
        <p14:creationId xmlns:p14="http://schemas.microsoft.com/office/powerpoint/2010/main" val="6665749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DEAA93-E835-8954-79E8-0A846C323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In conclusion</a:t>
            </a:r>
          </a:p>
        </p:txBody>
      </p:sp>
    </p:spTree>
    <p:extLst>
      <p:ext uri="{BB962C8B-B14F-4D97-AF65-F5344CB8AC3E}">
        <p14:creationId xmlns:p14="http://schemas.microsoft.com/office/powerpoint/2010/main" val="28883531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5785-B447-2946-3415-2E542CA78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2F08-778D-13C8-8E1A-1797D664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6A91B-2E84-79DC-BA98-6745D6534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paper about toxicity analysis in Greek text we: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Reinforced the importance of pre-processing, especially with the intricacies of the Greek language.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Saw how effective traditional machine learning can be for a low-resource language.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Observed how fine-tuned deep learning models performed well at specific tasks like correctly classifying offensive tweets, but with a drawback of higher false flag risk.</a:t>
            </a:r>
          </a:p>
        </p:txBody>
      </p:sp>
    </p:spTree>
    <p:extLst>
      <p:ext uri="{BB962C8B-B14F-4D97-AF65-F5344CB8AC3E}">
        <p14:creationId xmlns:p14="http://schemas.microsoft.com/office/powerpoint/2010/main" val="2672795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BF506-0ED4-DC7A-D0B9-3875D7D06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DCE7A-9D6F-9600-25B9-18FDC8E7E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In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769FB-215B-598A-4EB9-E820577FD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bigger dataset would </a:t>
            </a:r>
            <a:r>
              <a:rPr lang="en-US"/>
              <a:t>certainly improve </a:t>
            </a:r>
            <a:r>
              <a:rPr lang="en-US" dirty="0"/>
              <a:t>performance for deep learning models.</a:t>
            </a:r>
          </a:p>
          <a:p>
            <a:r>
              <a:rPr lang="en-US" dirty="0"/>
              <a:t>The bigger dataset should be more balanced (50% offensive tweets – 50% not offensive tweets). Given that the original sample size before the random selection for the OGTD was 49 thousand tweets, this is feasible.</a:t>
            </a:r>
          </a:p>
          <a:p>
            <a:r>
              <a:rPr lang="en-US" dirty="0"/>
              <a:t>Tweaking the deep learning parameters further is something worth exploring.</a:t>
            </a:r>
          </a:p>
          <a:p>
            <a:r>
              <a:rPr lang="en-US" dirty="0"/>
              <a:t>Ensemble learning could provide interesting results.</a:t>
            </a:r>
          </a:p>
        </p:txBody>
      </p:sp>
    </p:spTree>
    <p:extLst>
      <p:ext uri="{BB962C8B-B14F-4D97-AF65-F5344CB8AC3E}">
        <p14:creationId xmlns:p14="http://schemas.microsoft.com/office/powerpoint/2010/main" val="7140076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D93F-9565-B145-D3CD-B1C8190C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66715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7890</TotalTime>
  <Words>1828</Words>
  <Application>Microsoft Office PowerPoint</Application>
  <PresentationFormat>Widescreen</PresentationFormat>
  <Paragraphs>179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Times New Roman</vt:lpstr>
      <vt:lpstr>Office Theme</vt:lpstr>
      <vt:lpstr> BSc thesis  Toxicity Analysis in Greek Text using Machine Learning and Deep Learning</vt:lpstr>
      <vt:lpstr>Introduction</vt:lpstr>
      <vt:lpstr>What is online toxicity?</vt:lpstr>
      <vt:lpstr>Why is toxicity analysis important?</vt:lpstr>
      <vt:lpstr>Challenges with toxicity analysis in Greek</vt:lpstr>
      <vt:lpstr>Datasets</vt:lpstr>
      <vt:lpstr> The Offensive Greek Tweet Dataset</vt:lpstr>
      <vt:lpstr>Greek FastText encodings</vt:lpstr>
      <vt:lpstr>Pre-processing</vt:lpstr>
      <vt:lpstr>The Baseline model</vt:lpstr>
      <vt:lpstr>The Baseline model</vt:lpstr>
      <vt:lpstr>The Baseline model</vt:lpstr>
      <vt:lpstr>The intermediate model</vt:lpstr>
      <vt:lpstr>The Intedmediate model</vt:lpstr>
      <vt:lpstr>The Advanced model</vt:lpstr>
      <vt:lpstr>The Advanced model</vt:lpstr>
      <vt:lpstr>The Results</vt:lpstr>
      <vt:lpstr>The Setup</vt:lpstr>
      <vt:lpstr>Model Parameters</vt:lpstr>
      <vt:lpstr>Model Parameters</vt:lpstr>
      <vt:lpstr>Model Parameters</vt:lpstr>
      <vt:lpstr>Review of the Data</vt:lpstr>
      <vt:lpstr>Baseline model confusion matrix</vt:lpstr>
      <vt:lpstr>Intermediate model confusion matrix</vt:lpstr>
      <vt:lpstr>Advanced model confusion matrix</vt:lpstr>
      <vt:lpstr>Model Performance</vt:lpstr>
      <vt:lpstr>What does the data tell us?</vt:lpstr>
      <vt:lpstr>PowerPoint Presentation</vt:lpstr>
      <vt:lpstr>Looking at the data for “offensive” classification</vt:lpstr>
      <vt:lpstr>Looking at the data for “not offensive” classification</vt:lpstr>
      <vt:lpstr>What causes this?</vt:lpstr>
      <vt:lpstr>Looking at the OGTD dataset</vt:lpstr>
      <vt:lpstr>Deep learning and data scarcity</vt:lpstr>
      <vt:lpstr>FastText and GreekBERT training</vt:lpstr>
      <vt:lpstr>FastText and GreekBERT training</vt:lpstr>
      <vt:lpstr>Why does the baseline excel?</vt:lpstr>
      <vt:lpstr>In conclusion</vt:lpstr>
      <vt:lpstr>Findings</vt:lpstr>
      <vt:lpstr>In the future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GEORGIOS ATTALOGLOU</dc:creator>
  <cp:lastModifiedBy>GEORGIOS ATTALOGLOU</cp:lastModifiedBy>
  <cp:revision>236</cp:revision>
  <dcterms:created xsi:type="dcterms:W3CDTF">2026-01-28T13:12:17Z</dcterms:created>
  <dcterms:modified xsi:type="dcterms:W3CDTF">2026-02-13T12:32:08Z</dcterms:modified>
</cp:coreProperties>
</file>